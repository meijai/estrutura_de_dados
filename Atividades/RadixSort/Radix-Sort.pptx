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4630400" cy="8229600"/>
  <p:notesSz cx="8229600" cy="14630400"/>
  <p:embeddedFontLst>
    <p:embeddedFont>
      <p:font typeface="Poppins Light" panose="020B0502040204020203" pitchFamily="2" charset="0"/>
      <p:regular r:id="rId8"/>
    </p:embeddedFont>
    <p:embeddedFont>
      <p:font typeface="Roboto Light" panose="020F0502020204030204" pitchFamily="2" charset="0"/>
      <p:regular r:id="rId9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9" d="100"/>
          <a:sy n="69" d="100"/>
        </p:scale>
        <p:origin x="67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17664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9191A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9191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sv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ibtN8rY7V5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visualgo.net/en/sorting?create=170%2C45%2C75%2C90%2C802%2C24%2C2%2C66&amp;mode=Radi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793790" y="3099792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Radix Sort</a:t>
            </a:r>
            <a:endParaRPr lang="en-US" sz="4450" dirty="0"/>
          </a:p>
        </p:txBody>
      </p:sp>
      <p:sp>
        <p:nvSpPr>
          <p:cNvPr id="5" name="Text 2"/>
          <p:cNvSpPr/>
          <p:nvPr/>
        </p:nvSpPr>
        <p:spPr>
          <a:xfrm>
            <a:off x="793790" y="414873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Algoritmo de Ordenação Não-Comparativa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476678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Integrantes: Bruno Furlan, Gustavo Ribeiro Pistore, Lucas Piva Bellaver.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957268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História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3006209"/>
            <a:ext cx="7556421" cy="3266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Radix Sort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foi inicialmente proposto por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Herman Hollerith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no final do século XIX (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1890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), quando ele desenvolveu um método para classificar e processar dados do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Censo dos Estados Unidos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utilizando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cartões perfurados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.O algoritmo como conhecemos hoje foi formalizado mais tarde, sendo um dos métodos mais antigos de ordenação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não comparativa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— ou seja, ele ordena números ou cadeias de caracteres analisando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dígito a dígito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(ou </a:t>
            </a: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caractere a caractere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) em vez de fazer comparações diretas entre elementos.</a:t>
            </a:r>
            <a:endParaRPr lang="en-US" sz="1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793790" y="175402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Pontos Positivos</a:t>
            </a:r>
            <a:endParaRPr lang="en-US" sz="4450" dirty="0"/>
          </a:p>
        </p:txBody>
      </p:sp>
      <p:sp>
        <p:nvSpPr>
          <p:cNvPr id="5" name="Shape 2"/>
          <p:cNvSpPr/>
          <p:nvPr/>
        </p:nvSpPr>
        <p:spPr>
          <a:xfrm>
            <a:off x="793790" y="2802969"/>
            <a:ext cx="4196358" cy="3672483"/>
          </a:xfrm>
          <a:prstGeom prst="roundRect">
            <a:avLst>
              <a:gd name="adj" fmla="val 2594"/>
            </a:avLst>
          </a:prstGeom>
          <a:solidFill>
            <a:srgbClr val="3D3D42"/>
          </a:solidFill>
          <a:ln w="7620">
            <a:solidFill>
              <a:srgbClr val="56565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1028224" y="303740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5390" y="3224451"/>
            <a:ext cx="306110" cy="30611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28224" y="3944660"/>
            <a:ext cx="3727490" cy="1062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Alta eficiência para grandes volumes de dados numéricos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1028224" y="5143738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especialmente quando o número de dígitos (ou caracteres) é pequeno em relação à quantidade de elementos.</a:t>
            </a:r>
            <a:endParaRPr lang="en-US" sz="1750" dirty="0"/>
          </a:p>
        </p:txBody>
      </p:sp>
      <p:sp>
        <p:nvSpPr>
          <p:cNvPr id="10" name="Shape 6"/>
          <p:cNvSpPr/>
          <p:nvPr/>
        </p:nvSpPr>
        <p:spPr>
          <a:xfrm>
            <a:off x="5216962" y="2802969"/>
            <a:ext cx="4196358" cy="3672483"/>
          </a:xfrm>
          <a:prstGeom prst="roundRect">
            <a:avLst>
              <a:gd name="adj" fmla="val 2594"/>
            </a:avLst>
          </a:prstGeom>
          <a:solidFill>
            <a:srgbClr val="3D3D42"/>
          </a:solidFill>
          <a:ln w="7620">
            <a:solidFill>
              <a:srgbClr val="56565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Shape 7"/>
          <p:cNvSpPr/>
          <p:nvPr/>
        </p:nvSpPr>
        <p:spPr>
          <a:xfrm>
            <a:off x="5451396" y="303740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562" y="3224451"/>
            <a:ext cx="306110" cy="30611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51396" y="394466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Ordenação estável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5451396" y="4435078"/>
            <a:ext cx="372749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mantém a ordem relativa dos elementos iguais.</a:t>
            </a:r>
            <a:endParaRPr lang="en-US" sz="1750" dirty="0"/>
          </a:p>
        </p:txBody>
      </p:sp>
      <p:sp>
        <p:nvSpPr>
          <p:cNvPr id="15" name="Shape 10"/>
          <p:cNvSpPr/>
          <p:nvPr/>
        </p:nvSpPr>
        <p:spPr>
          <a:xfrm>
            <a:off x="9640133" y="2802969"/>
            <a:ext cx="4196358" cy="3672483"/>
          </a:xfrm>
          <a:prstGeom prst="roundRect">
            <a:avLst>
              <a:gd name="adj" fmla="val 2594"/>
            </a:avLst>
          </a:prstGeom>
          <a:solidFill>
            <a:srgbClr val="3D3D42"/>
          </a:solidFill>
          <a:ln w="7620">
            <a:solidFill>
              <a:srgbClr val="56565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Shape 11"/>
          <p:cNvSpPr/>
          <p:nvPr/>
        </p:nvSpPr>
        <p:spPr>
          <a:xfrm>
            <a:off x="9874568" y="3037403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0061734" y="3224451"/>
            <a:ext cx="306110" cy="30611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4568" y="3944660"/>
            <a:ext cx="372749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E5E0DF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Não depende de comparações diretas</a:t>
            </a:r>
            <a:endParaRPr lang="en-US" sz="2200" dirty="0"/>
          </a:p>
        </p:txBody>
      </p:sp>
      <p:sp>
        <p:nvSpPr>
          <p:cNvPr id="19" name="Text 13"/>
          <p:cNvSpPr/>
          <p:nvPr/>
        </p:nvSpPr>
        <p:spPr>
          <a:xfrm>
            <a:off x="9874568" y="4789408"/>
            <a:ext cx="372749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o desempenho não é afetado pela complexidade das comparações, como acontece em QuickSort ou MergeSort.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50505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Text 1"/>
          <p:cNvSpPr/>
          <p:nvPr/>
        </p:nvSpPr>
        <p:spPr>
          <a:xfrm>
            <a:off x="793790" y="122372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Pontos Negativos</a:t>
            </a:r>
            <a:endParaRPr lang="en-US" sz="4450" dirty="0"/>
          </a:p>
        </p:txBody>
      </p:sp>
      <p:sp>
        <p:nvSpPr>
          <p:cNvPr id="5" name="Shape 2"/>
          <p:cNvSpPr/>
          <p:nvPr/>
        </p:nvSpPr>
        <p:spPr>
          <a:xfrm>
            <a:off x="793790" y="2612827"/>
            <a:ext cx="6407944" cy="1912977"/>
          </a:xfrm>
          <a:prstGeom prst="roundRect">
            <a:avLst>
              <a:gd name="adj" fmla="val 7648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793790" y="2582347"/>
            <a:ext cx="6407944" cy="121920"/>
          </a:xfrm>
          <a:prstGeom prst="roundRect">
            <a:avLst>
              <a:gd name="adj" fmla="val 78139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Shape 4"/>
          <p:cNvSpPr/>
          <p:nvPr/>
        </p:nvSpPr>
        <p:spPr>
          <a:xfrm>
            <a:off x="3657540" y="2272665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61614" y="2476738"/>
            <a:ext cx="272177" cy="27217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084" y="3179802"/>
            <a:ext cx="589335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Requer espaço extra: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geralmente precisa de memória adicional para estruturas auxiliares (como filas ou contadores).</a:t>
            </a:r>
            <a:endParaRPr lang="en-US" sz="1750" dirty="0"/>
          </a:p>
        </p:txBody>
      </p:sp>
      <p:sp>
        <p:nvSpPr>
          <p:cNvPr id="10" name="Shape 6"/>
          <p:cNvSpPr/>
          <p:nvPr/>
        </p:nvSpPr>
        <p:spPr>
          <a:xfrm>
            <a:off x="7428548" y="2612827"/>
            <a:ext cx="6408063" cy="1912977"/>
          </a:xfrm>
          <a:prstGeom prst="roundRect">
            <a:avLst>
              <a:gd name="adj" fmla="val 7648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Shape 7"/>
          <p:cNvSpPr/>
          <p:nvPr/>
        </p:nvSpPr>
        <p:spPr>
          <a:xfrm>
            <a:off x="7428548" y="2582347"/>
            <a:ext cx="6408063" cy="121920"/>
          </a:xfrm>
          <a:prstGeom prst="roundRect">
            <a:avLst>
              <a:gd name="adj" fmla="val 78139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Shape 8"/>
          <p:cNvSpPr/>
          <p:nvPr/>
        </p:nvSpPr>
        <p:spPr>
          <a:xfrm>
            <a:off x="10292298" y="2272665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496371" y="2476738"/>
            <a:ext cx="272177" cy="27217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685842" y="3179802"/>
            <a:ext cx="589347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Pouco eficiente com dados de tamanhos muito diferentes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(por exemplo, números com muitos dígitos misturados com outros pequenos).</a:t>
            </a:r>
            <a:endParaRPr lang="en-US" sz="1750" dirty="0"/>
          </a:p>
        </p:txBody>
      </p:sp>
      <p:sp>
        <p:nvSpPr>
          <p:cNvPr id="15" name="Shape 10"/>
          <p:cNvSpPr/>
          <p:nvPr/>
        </p:nvSpPr>
        <p:spPr>
          <a:xfrm>
            <a:off x="793790" y="5092779"/>
            <a:ext cx="6407944" cy="1912977"/>
          </a:xfrm>
          <a:prstGeom prst="roundRect">
            <a:avLst>
              <a:gd name="adj" fmla="val 7648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6" name="Shape 11"/>
          <p:cNvSpPr/>
          <p:nvPr/>
        </p:nvSpPr>
        <p:spPr>
          <a:xfrm>
            <a:off x="793790" y="5062299"/>
            <a:ext cx="6407944" cy="121920"/>
          </a:xfrm>
          <a:prstGeom prst="roundRect">
            <a:avLst>
              <a:gd name="adj" fmla="val 78139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Shape 12"/>
          <p:cNvSpPr/>
          <p:nvPr/>
        </p:nvSpPr>
        <p:spPr>
          <a:xfrm>
            <a:off x="3657540" y="475261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861614" y="4956691"/>
            <a:ext cx="272177" cy="272177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51084" y="5659755"/>
            <a:ext cx="589335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Mais difícil de aplicar em tipos de dados complexos: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funciona melhor com inteiros ou strings curtas e de comprimento fixo.</a:t>
            </a:r>
            <a:endParaRPr lang="en-US" sz="1750" dirty="0"/>
          </a:p>
        </p:txBody>
      </p:sp>
      <p:sp>
        <p:nvSpPr>
          <p:cNvPr id="20" name="Shape 14"/>
          <p:cNvSpPr/>
          <p:nvPr/>
        </p:nvSpPr>
        <p:spPr>
          <a:xfrm>
            <a:off x="7428548" y="5092779"/>
            <a:ext cx="6408063" cy="1912977"/>
          </a:xfrm>
          <a:prstGeom prst="roundRect">
            <a:avLst>
              <a:gd name="adj" fmla="val 7648"/>
            </a:avLst>
          </a:prstGeom>
          <a:solidFill>
            <a:srgbClr val="05050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Shape 15"/>
          <p:cNvSpPr/>
          <p:nvPr/>
        </p:nvSpPr>
        <p:spPr>
          <a:xfrm>
            <a:off x="7428548" y="5062299"/>
            <a:ext cx="6408063" cy="121920"/>
          </a:xfrm>
          <a:prstGeom prst="roundRect">
            <a:avLst>
              <a:gd name="adj" fmla="val 78139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2" name="Shape 16"/>
          <p:cNvSpPr/>
          <p:nvPr/>
        </p:nvSpPr>
        <p:spPr>
          <a:xfrm>
            <a:off x="10292298" y="475261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F2F2F3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496371" y="4956691"/>
            <a:ext cx="272177" cy="27217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685842" y="5659755"/>
            <a:ext cx="589347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Dependência da base (radix):</a:t>
            </a:r>
            <a:r>
              <a:rPr lang="en-US" sz="1750" dirty="0">
                <a:solidFill>
                  <a:srgbClr val="E5E0DF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</a:rPr>
              <a:t> o desempenho pode variar dependendo da base escolhida e da distribuição dos dados.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313098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F2F2F3"/>
                </a:solidFill>
                <a:latin typeface="Poppins Light" pitchFamily="34" charset="0"/>
                <a:ea typeface="Poppins Light" pitchFamily="34" charset="-122"/>
                <a:cs typeface="Poppins Light" pitchFamily="34" charset="-120"/>
              </a:rPr>
              <a:t>Conteúdo Extra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429339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u="sng" dirty="0">
                <a:solidFill>
                  <a:srgbClr val="F2F2F3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Radix Sort: Visualização Animada e Explicação Detalhada</a:t>
            </a:r>
            <a:endParaRPr lang="en-US" sz="1750" dirty="0"/>
          </a:p>
        </p:txBody>
      </p:sp>
      <p:sp>
        <p:nvSpPr>
          <p:cNvPr id="4" name="Text 2"/>
          <p:cNvSpPr/>
          <p:nvPr/>
        </p:nvSpPr>
        <p:spPr>
          <a:xfrm>
            <a:off x="793790" y="473559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u="sng" dirty="0">
                <a:solidFill>
                  <a:srgbClr val="F2F2F3"/>
                </a:solidFill>
                <a:latin typeface="Roboto Light" pitchFamily="34" charset="0"/>
                <a:ea typeface="Roboto Light" pitchFamily="34" charset="-122"/>
                <a:cs typeface="Roboto Light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VisualGo: Ferramenta Interativa para Visualização de Algoritmos de Ordenação</a:t>
            </a:r>
            <a:endParaRPr lang="en-US" sz="1750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CD98539-D2CE-BD71-12B9-3DE264CDC7CA}"/>
              </a:ext>
            </a:extLst>
          </p:cNvPr>
          <p:cNvSpPr/>
          <p:nvPr/>
        </p:nvSpPr>
        <p:spPr>
          <a:xfrm>
            <a:off x="10872439" y="6746488"/>
            <a:ext cx="3635297" cy="138275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275</Words>
  <Application>Microsoft Office PowerPoint</Application>
  <PresentationFormat>Personalizar</PresentationFormat>
  <Paragraphs>25</Paragraphs>
  <Slides>5</Slides>
  <Notes>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Poppins Light</vt:lpstr>
      <vt:lpstr>Roboto Light</vt:lpstr>
      <vt:lpstr>Arial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Equipe Tecnica MJ</cp:lastModifiedBy>
  <cp:revision>2</cp:revision>
  <dcterms:created xsi:type="dcterms:W3CDTF">2025-10-23T00:57:59Z</dcterms:created>
  <dcterms:modified xsi:type="dcterms:W3CDTF">2025-10-23T00:59:03Z</dcterms:modified>
</cp:coreProperties>
</file>