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Poppins Light"/>
      <p:regular r:id="rId11"/>
      <p:bold r:id="rId12"/>
      <p:italic r:id="rId13"/>
      <p:boldItalic r:id="rId14"/>
    </p:embeddedFont>
    <p:embeddedFont>
      <p:font typeface="Roboto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DiIoN1QzeZaP8j4Eew66daB3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Light-regular.fntdata"/><Relationship Id="rId10" Type="http://schemas.openxmlformats.org/officeDocument/2006/relationships/slide" Target="slides/slide6.xml"/><Relationship Id="rId13" Type="http://schemas.openxmlformats.org/officeDocument/2006/relationships/font" Target="fonts/PoppinsLight-italic.fntdata"/><Relationship Id="rId12" Type="http://schemas.openxmlformats.org/officeDocument/2006/relationships/font" Target="fonts/Poppi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Light-regular.fntdata"/><Relationship Id="rId14" Type="http://schemas.openxmlformats.org/officeDocument/2006/relationships/font" Target="fonts/PoppinsLight-boldItalic.fntdata"/><Relationship Id="rId17" Type="http://schemas.openxmlformats.org/officeDocument/2006/relationships/font" Target="fonts/RobotoLight-italic.fntdata"/><Relationship Id="rId16" Type="http://schemas.openxmlformats.org/officeDocument/2006/relationships/font" Target="fonts/RobotoLight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Roboto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e5c7e4a66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9e5c7e4a66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9e5c7e4a66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" name="Google Shape;9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ibtN8rY7V5k" TargetMode="External"/><Relationship Id="rId4" Type="http://schemas.openxmlformats.org/officeDocument/2006/relationships/hyperlink" Target="https://visualgo.net/en/sorting?create=170%2C45%2C75%2C90%2C802%2C24%2C2%2C66&amp;mode=Rad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93800" y="1266425"/>
            <a:ext cx="59637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lang="en-US" sz="81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Radix Sort</a:t>
            </a:r>
            <a:endParaRPr sz="8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93790" y="2604808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22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Algoritmo de Ordenação Não-Comparativa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93790" y="6420961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22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Alunos</a:t>
            </a:r>
            <a:r>
              <a:rPr lang="en-US" sz="22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: Bruno Furlan, Gustavo Ribeiro Pistore, Lucas Piva Bellaver.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0175" y="1959100"/>
            <a:ext cx="3512775" cy="32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793790" y="19572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1" lang="en-US" sz="44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História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93790" y="3006209"/>
            <a:ext cx="7556400" cy="3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O Radix Sort foi inicialmente proposto por Herman Hollerith no final do século XIX (1890), quando ele desenvolveu um método para classificar e processar dados do Censo dos Estados Unidos utilizando cartões perfurados. O algoritmo como conhecemos hoje foi formalizado mais tarde, sendo um dos métodos mais antigos de ordenação não comparativa — ou seja, ele ordena números ou cadeias de caracteres analisando dígito a dígito (ou caractere a caractere) em vez de fazer comparações diretas entre elementos.</a:t>
            </a:r>
            <a:endParaRPr sz="1700">
              <a:solidFill>
                <a:srgbClr val="E5E0DF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t/>
            </a:r>
            <a:endParaRPr sz="1700">
              <a:solidFill>
                <a:srgbClr val="E5E0DF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Curiosidade: Herman Hollerith mais tarde fundou a empresa que deu origem a IBM</a:t>
            </a:r>
            <a:endParaRPr sz="1700">
              <a:solidFill>
                <a:srgbClr val="E5E0D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g39e5c7e4a66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9e5c7e4a66_1_0"/>
          <p:cNvSpPr/>
          <p:nvPr/>
        </p:nvSpPr>
        <p:spPr>
          <a:xfrm>
            <a:off x="793790" y="68904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1" lang="en-US" sz="44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Como Funciona?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9e5c7e4a66_1_0"/>
          <p:cNvSpPr/>
          <p:nvPr/>
        </p:nvSpPr>
        <p:spPr>
          <a:xfrm>
            <a:off x="793800" y="1873801"/>
            <a:ext cx="7556400" cy="6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O Radix Sort é um algoritmo de ordenação que organiza números dígito por dígito, começando pelo menos significativo ou pelo mais significativo.</a:t>
            </a:r>
            <a:br>
              <a:rPr lang="en-US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Ele usa um algoritmo de ordenação estável em cada posição dos dígitos.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700">
                <a:solidFill>
                  <a:schemeClr val="lt1"/>
                </a:solidFill>
              </a:rPr>
            </a:br>
            <a:r>
              <a:rPr lang="en-US" sz="1700">
                <a:solidFill>
                  <a:schemeClr val="lt1"/>
                </a:solidFill>
              </a:rPr>
              <a:t>Diferente de comparações diretas, ele classifica por posição, não por valor total.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Exemplo: 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Etapa 0 - [170, 45, 75, 90, 802, 24, 2, 66]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Etapa 1 - [170, 90, 802, 2, 24, 45, 75, 66]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Etapa 2 - [802, 2, 24, 45, 66, 170, 75, 90]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Etapa 3 - [2, 24, 45, 66, 75, 90, 170, 802]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93790" y="175402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1" lang="en-US" sz="44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Pontos Positivos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93790" y="2802969"/>
            <a:ext cx="4196358" cy="3672483"/>
          </a:xfrm>
          <a:prstGeom prst="roundRect">
            <a:avLst>
              <a:gd fmla="val 259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224" y="303740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390" y="322445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1028225" y="4010650"/>
            <a:ext cx="37275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lang="en-US" sz="1700">
                <a:solidFill>
                  <a:srgbClr val="E5E0DF"/>
                </a:solidFill>
              </a:rPr>
              <a:t>Alta eficiência para grandes volumes de dados numéricos</a:t>
            </a:r>
            <a:r>
              <a:rPr lang="en-US" sz="1700">
                <a:solidFill>
                  <a:schemeClr val="dk1"/>
                </a:solidFill>
              </a:rPr>
              <a:t> </a:t>
            </a:r>
            <a:r>
              <a:rPr lang="en-US" sz="1700">
                <a:solidFill>
                  <a:srgbClr val="E5E0DF"/>
                </a:solidFill>
              </a:rPr>
              <a:t>especialmente quando o número de dígitos (ou caracteres) é pequeno em relação à quantidade de elementos.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216962" y="2802969"/>
            <a:ext cx="4196358" cy="3672483"/>
          </a:xfrm>
          <a:prstGeom prst="roundRect">
            <a:avLst>
              <a:gd fmla="val 259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51396" y="303740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562" y="322445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5451400" y="4019250"/>
            <a:ext cx="372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lang="en-US" sz="1700">
                <a:solidFill>
                  <a:srgbClr val="E5E0DF"/>
                </a:solidFill>
              </a:rPr>
              <a:t>Ordenação estável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mantém a ordem relativa dos elementos iguais.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640133" y="2802969"/>
            <a:ext cx="4196358" cy="3672483"/>
          </a:xfrm>
          <a:prstGeom prst="roundRect">
            <a:avLst>
              <a:gd fmla="val 259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874568" y="303740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61734" y="322445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9874575" y="4019251"/>
            <a:ext cx="37275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lang="en-US" sz="1700">
                <a:solidFill>
                  <a:srgbClr val="E5E0DF"/>
                </a:solidFill>
              </a:rPr>
              <a:t>Não depende de comparações diretas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o desempenho não é afetado pela complexidade das comparações, como acontece em QuickSort ou MergeSort.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93790" y="122372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1" lang="en-US" sz="44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Pontos Negativos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93790" y="2612827"/>
            <a:ext cx="6407944" cy="1912977"/>
          </a:xfrm>
          <a:prstGeom prst="roundRect">
            <a:avLst>
              <a:gd fmla="val 7648" name="adj"/>
            </a:avLst>
          </a:prstGeom>
          <a:solidFill>
            <a:srgbClr val="05050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93790" y="2582347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540" y="227266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1614" y="2476738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1051084" y="3179802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Requer espaço extra: geralmente precisa de memória adicional para estruturas auxiliares (como filas ou contadores).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428548" y="2612827"/>
            <a:ext cx="6408063" cy="1912977"/>
          </a:xfrm>
          <a:prstGeom prst="roundRect">
            <a:avLst>
              <a:gd fmla="val 7648" name="adj"/>
            </a:avLst>
          </a:prstGeom>
          <a:solidFill>
            <a:srgbClr val="05050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428548" y="2582347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0292298" y="227266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6371" y="2476738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7685842" y="3179802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Pouco eficiente com dados de tamanhos muito diferentes (por exemplo, números com muitos dígitos misturados com outros pequenos).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93790" y="5092779"/>
            <a:ext cx="6407944" cy="1912977"/>
          </a:xfrm>
          <a:prstGeom prst="roundRect">
            <a:avLst>
              <a:gd fmla="val 7648" name="adj"/>
            </a:avLst>
          </a:prstGeom>
          <a:solidFill>
            <a:srgbClr val="05050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93790" y="5062299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657540" y="475261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1614" y="4956691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1051084" y="5659755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Mais difícil de aplicar em tipos de dados complexos: funciona melhor com inteiros ou strings curtas e de comprimento fixo.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428548" y="5092779"/>
            <a:ext cx="6408063" cy="1912977"/>
          </a:xfrm>
          <a:prstGeom prst="roundRect">
            <a:avLst>
              <a:gd fmla="val 7648" name="adj"/>
            </a:avLst>
          </a:prstGeom>
          <a:solidFill>
            <a:srgbClr val="05050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428548" y="5062299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292298" y="475261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96371" y="4956691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7685842" y="5659755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lang="en-US" sz="1700">
                <a:solidFill>
                  <a:srgbClr val="E5E0DF"/>
                </a:solidFill>
              </a:rPr>
              <a:t>Dependência da base (radix): o desempenho pode variar dependendo da base escolhida e da distribuição dos dados.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793790" y="313098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1" lang="en-US" sz="44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Conteúdo Extra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750"/>
              <a:buFont typeface="Roboto Light"/>
              <a:buChar char="•"/>
            </a:pPr>
            <a:r>
              <a:rPr lang="en-US" sz="1750" u="sng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Radix Sort: Visualização Animada e Explicação Detalhada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750"/>
              <a:buFont typeface="Roboto Light"/>
              <a:buChar char="•"/>
            </a:pPr>
            <a:r>
              <a:rPr lang="en-US" sz="1750" u="sng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VisualGo: Ferramenta Interativa para Visualização de Algoritmos de Ordenação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872439" y="6746488"/>
            <a:ext cx="3635297" cy="138275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2025-10-23T00:57:59Z</dcterms:created>
</cp:coreProperties>
</file>